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AWS vs. Google Cloud</a:t>
            </a:r>
          </a:p>
        </p:txBody>
      </p:sp>
      <p:sp>
        <p:nvSpPr>
          <p:cNvPr id="3" name="Subtitle 2"/>
          <p:cNvSpPr>
            <a:spLocks noGrp="1"/>
          </p:cNvSpPr>
          <p:nvPr>
            <p:ph type="subTitle" idx="1"/>
          </p:nvPr>
        </p:nvSpPr>
        <p:spPr/>
        <p:txBody>
          <a:bodyPr/>
          <a:lstStyle/>
          <a:p>
            <a:r>
              <a:t>Compete Deck — SA-to-SA / SA-to-Customer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r>
              <a:rPr b="1" sz="1600"/>
              <a:t>BLUF: We win on capacity certainty, model choice, and control surfaces that don't have an expiration date.</a:t>
            </a:r>
          </a:p>
          <a:p>
            <a:pPr/>
            <a:r>
              <a:rPr sz="1600"/>
              <a:t>Google's Q2 2026 results are real — Cloud revenue +82% YoY, backlog $514B — but their own CFO said on the earnings call that "revenue would have been higher if we were able to meet the demand." That is a public admission of a capacity ceiling.</a:t>
            </a:r>
          </a:p>
          <a:p>
            <a:pPr/>
            <a:r>
              <a:rPr sz="1600"/>
              <a:t>In the same quarter, Google set hard retirement dates on three things customers rely on: 16 open-model Vertex endpoints (Oct 2026), CSEK hold-your-own-key encryption (Jul 2027), and legacy SecOps SIEM APIs (Jul 2027).</a:t>
            </a:r>
          </a:p>
          <a:p>
            <a:pPr/>
            <a:r>
              <a:rPr sz="1600"/>
              <a:t>The honest frame for this deck: Google's AI infrastructure story converted from marketing claim to audited financial fact this quarter. We are not disputing their momentum — we are showing where that momentum is creating forced migrations, and why AWS is the calmer landing spot for each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Context — Analyst Positioning</a:t>
            </a:r>
          </a:p>
        </p:txBody>
      </p:sp>
      <p:sp>
        <p:nvSpPr>
          <p:cNvPr id="3" name="Content Placeholder 2"/>
          <p:cNvSpPr>
            <a:spLocks noGrp="1"/>
          </p:cNvSpPr>
          <p:nvPr>
            <p:ph idx="1"/>
          </p:nvPr>
        </p:nvSpPr>
        <p:spPr/>
        <p:txBody>
          <a:bodyPr/>
          <a:lstStyle/>
          <a:p>
            <a:pPr/>
            <a:r>
              <a:rPr b="1" sz="1600"/>
              <a:t>Gartner Magic Quadrant for Strategic Cloud Platform Services (2025):</a:t>
            </a:r>
            <a:r>
              <a:rPr sz="1600"/>
              <a:t> AWS named a Leader for the 15th consecutive year, positioned highest on Ability to Execute.</a:t>
            </a:r>
          </a:p>
          <a:p>
            <a:pPr/>
            <a:r>
              <a:rPr b="1" sz="1600"/>
              <a:t>Gartner Magic Quadrant for AI Infrastructure (inaugural, 2026):</a:t>
            </a:r>
            <a:r>
              <a:rPr sz="1600"/>
              <a:t> Google Cloud named a Leader, positioned highest for Ability to Execute and furthest for Completeness of Vision on this specific quadrant — a newer, AI-infra-focused evaluation, distinct from the general cloud-platform quadrant above.</a:t>
            </a:r>
          </a:p>
          <a:p>
            <a:pPr/>
            <a:r>
              <a:rPr b="1" sz="1600"/>
              <a:t>Read it straight, not defensively:</a:t>
            </a:r>
            <a:r>
              <a:rPr sz="1600"/>
              <a:t> these are two different quadrants measuring different things. Google leads the AI-infrastructure-specific view; AWS leads the broader strategic cloud-platform view where execution track record and platform breadth are weighted higher. Don't contest the AI-infra placement — reframe the conversation to total platform risk, not just accelerator benchmarks.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Context — Trends This Quarter</a:t>
            </a:r>
          </a:p>
        </p:txBody>
      </p:sp>
      <p:sp>
        <p:nvSpPr>
          <p:cNvPr id="3" name="Content Placeholder 2"/>
          <p:cNvSpPr>
            <a:spLocks noGrp="1"/>
          </p:cNvSpPr>
          <p:nvPr>
            <p:ph idx="1"/>
          </p:nvPr>
        </p:nvSpPr>
        <p:spPr/>
        <p:txBody>
          <a:bodyPr/>
          <a:lstStyle/>
          <a:p>
            <a:pPr/>
            <a:r>
              <a:rPr sz="1600"/>
              <a:t>Alphabet raised $49.6B via stock issuance plus $20.3B in senior unsecured notes in-quarter, earmarked for AI infrastructure buildout — external financing for capex, not pure free-cash-flow funding. Worth tracking as a sustainability signal across coming quarters.</a:t>
            </a:r>
          </a:p>
          <a:p>
            <a:pPr/>
            <a:r>
              <a:rPr sz="1600"/>
              <a:t>Google is consolidating model-serving behind Gemini (retiring 16 third-party open-model endpoints) while simultaneously locking down inference parameters on new Gemini Flash models — the pattern across the quarter is platform velocity traded for customer optionality.</a:t>
            </a:r>
          </a:p>
          <a:p>
            <a:pPr/>
            <a:r>
              <a:rPr sz="1600"/>
              <a:t>Google is shedding legacy control surfaces (CSEK, Backstory SIEM APIs, cross-region Batch flexibility) at the same time it's raising capex — simplifying the platform while scaling it, which is where migration friction concentrates.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Comparison — Compute &amp; Capacity</a:t>
            </a:r>
          </a:p>
        </p:txBody>
      </p:sp>
      <p:sp>
        <p:nvSpPr>
          <p:cNvPr id="3" name="Content Placeholder 2"/>
          <p:cNvSpPr>
            <a:spLocks noGrp="1"/>
          </p:cNvSpPr>
          <p:nvPr>
            <p:ph idx="1"/>
          </p:nvPr>
        </p:nvSpPr>
        <p:spPr/>
        <p:txBody>
          <a:bodyPr/>
          <a:lstStyle/>
          <a:p>
            <a:pPr/>
            <a:r>
              <a:rPr b="1" sz="1600"/>
              <a:t>AWS:</a:t>
            </a:r>
            <a:r>
              <a:rPr sz="1600"/>
              <a:t> EC2 fleet depth across instance families and regions; Capacity Blocks let customers *reserve* GPU/accelerator capacity ahead of need rather than compete for it.</a:t>
            </a:r>
          </a:p>
          <a:p>
            <a:pPr/>
            <a:r>
              <a:rPr b="1" sz="1600"/>
              <a:t>Google Cloud:</a:t>
            </a:r>
            <a:r>
              <a:rPr sz="1600"/>
              <a:t> Compute Engine + TPU fleet (v6e, tpu7x/Ironwood-class); admitted supply-constrained this quarter per CFO on the Q2 call.</a:t>
            </a:r>
          </a:p>
          <a:p>
            <a:pPr/>
            <a:r>
              <a:rPr b="1" sz="1600"/>
              <a:t>Batch/HPC:</a:t>
            </a:r>
            <a:r>
              <a:rPr sz="1600"/>
              <a:t> GCP Batch jobs can no longer create Compute Engine resources outside the job's region (grandfathered accounts get until Jun 2027, everyone else sooner) — removes the "hunt for capacity across regions" pattern GPU-scarce customers used. AWS Batch carries no equivalent restriction.</a:t>
            </a:r>
          </a:p>
          <a:p>
            <a:pPr/>
            <a:r>
              <a:rPr b="1" sz="1600"/>
              <a:t>Wedge:</a:t>
            </a:r>
            <a:r>
              <a:rPr sz="1600"/>
              <a:t> on a platform that just told the market it's supply-constrained, removing cross-region capacity-hunting is a real operational regression for the exact accelerator-scarce segment most likely to need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Comparison — AI/ML Serving</a:t>
            </a:r>
          </a:p>
        </p:txBody>
      </p:sp>
      <p:sp>
        <p:nvSpPr>
          <p:cNvPr id="3" name="Content Placeholder 2"/>
          <p:cNvSpPr>
            <a:spLocks noGrp="1"/>
          </p:cNvSpPr>
          <p:nvPr>
            <p:ph idx="1"/>
          </p:nvPr>
        </p:nvSpPr>
        <p:spPr/>
        <p:txBody>
          <a:bodyPr/>
          <a:lstStyle/>
          <a:p>
            <a:pPr/>
            <a:r>
              <a:rPr b="1" sz="1600"/>
              <a:t>AWS:</a:t>
            </a:r>
            <a:r>
              <a:rPr sz="1600"/>
              <a:t> Bedrock (managed, multi-model) + Trainium/Inferentia (owned silicon) + SageMaker — model choice is the product thesis.</a:t>
            </a:r>
          </a:p>
          <a:p>
            <a:pPr/>
            <a:r>
              <a:rPr b="1" sz="1600"/>
              <a:t>Google Cloud:</a:t>
            </a:r>
            <a:r>
              <a:rPr sz="1600"/>
              <a:t> Vertex AI, historically multi-model via MaaS, now consolidating: 16 open-model endpoints (DeepSeek, Llama 3.3 70B, Qwen3 ×4, GLM, Kimi K2, MiniMax, GPT-OSS, embeddings) retire Oct 21, 2026.</a:t>
            </a:r>
          </a:p>
          <a:p>
            <a:pPr/>
            <a:r>
              <a:rPr b="1" sz="1600"/>
              <a:t>Concession:</a:t>
            </a:r>
            <a:r>
              <a:rPr sz="1600"/>
              <a:t> Gemini Flash-class models are genuinely strong on price-performance, and Google will pitch the retirement as "we're moving you to something cheaper and better." Don't claim workload regression — the customer loses the *option*, and contracts should price optionality.</a:t>
            </a:r>
          </a:p>
          <a:p>
            <a:pPr/>
            <a:r>
              <a:rPr b="1" sz="1600"/>
              <a:t>tpu7x (Ironwood-class) pricing is public</a:t>
            </a:r>
            <a:r>
              <a:rPr sz="1600"/>
              <a:t> ($13.80/chip-hr) ahead of firm availability/region/reservation-terms corroboration — pricing signal is ahead of the supply signal.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Comparison — Security &amp; Control Surfaces</a:t>
            </a:r>
          </a:p>
        </p:txBody>
      </p:sp>
      <p:sp>
        <p:nvSpPr>
          <p:cNvPr id="3" name="Content Placeholder 2"/>
          <p:cNvSpPr>
            <a:spLocks noGrp="1"/>
          </p:cNvSpPr>
          <p:nvPr>
            <p:ph idx="1"/>
          </p:nvPr>
        </p:nvSpPr>
        <p:spPr/>
        <p:txBody>
          <a:bodyPr/>
          <a:lstStyle/>
          <a:p>
            <a:pPr/>
            <a:r>
              <a:rPr b="1" sz="1600"/>
              <a:t>Encryption:</a:t>
            </a:r>
            <a:r>
              <a:rPr sz="1600"/>
              <a:t> GCP is deprecating CSEK (customer-supplied encryption keys) on Compute Engine, fully disabled Jul 20, 2027. Customers who chose GCP specifically for resource-level hold-your-own-key control lose that model. AWS KMS supports External Key Stores (XKS) — key material never leaves the customer's HSM — with no deprecation notice.</a:t>
            </a:r>
          </a:p>
          <a:p>
            <a:pPr/>
            <a:r>
              <a:rPr b="1" sz="1600"/>
              <a:t>SecOps/SIEM:</a:t>
            </a:r>
            <a:r>
              <a:rPr sz="1600"/>
              <a:t> Backstory and Ingestion APIs deprecated; new SecOps instances lose them Oct 26, 2026, full turndown Jul 20, 2027 for everyone. Every custom SOC integration needs a mandatory rewrite.</a:t>
            </a:r>
          </a:p>
          <a:p>
            <a:pPr/>
            <a:r>
              <a:rPr b="1" sz="1600"/>
              <a:t>Concession:</a:t>
            </a:r>
            <a:r>
              <a:rPr sz="1600"/>
              <a:t> CMEK with Cloud EKM covers most of the same compliance ground as CSEK for most postures, and Chronicle API is a genuine SIEM modernization, not a downgrade. The wedge is the *forced re-review window*, not a capability gap AWS uniquely fills — Security Lake (OCSF, open schema) is the pitch: the next mandatory rewrite is the last one tied to a vendor's proprietary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Model Choice &amp; Lock-In</a:t>
            </a:r>
          </a:p>
        </p:txBody>
      </p:sp>
      <p:sp>
        <p:nvSpPr>
          <p:cNvPr id="3" name="Content Placeholder 2"/>
          <p:cNvSpPr>
            <a:spLocks noGrp="1"/>
          </p:cNvSpPr>
          <p:nvPr>
            <p:ph idx="1"/>
          </p:nvPr>
        </p:nvSpPr>
        <p:spPr/>
        <p:txBody>
          <a:bodyPr/>
          <a:lstStyle/>
          <a:p>
            <a:pPr/>
            <a:r>
              <a:rPr b="1" sz="1600"/>
              <a:t>Evidence:</a:t>
            </a:r>
            <a:r>
              <a:rPr sz="1600"/>
              <a:t> 16 Vertex MaaS endpoints retire Oct 21, 2026 (DeepSeek, Llama, Qwen3 ×4, GLM, Kimi K2, MiniMax, GPT-OSS, E5 embeddings). New Gemini Flash models ignore custom temperature/top-K/top-P.</a:t>
            </a:r>
          </a:p>
          <a:p>
            <a:pPr/>
            <a:r>
              <a:rPr b="1" sz="1600"/>
              <a:t>AWS counter:</a:t>
            </a:r>
            <a:r>
              <a:rPr sz="1600"/>
              <a:t> Bedrock serves DeepSeek, Llama, Qwen, and Kimi as first-class managed models today; open weights also run on Trainium/Inferentia for price control.</a:t>
            </a:r>
          </a:p>
          <a:p>
            <a:pPr/>
            <a:r>
              <a:rPr b="1" sz="1600"/>
              <a:t>Talk track:</a:t>
            </a:r>
            <a:r>
              <a:rPr sz="1600"/>
              <a:t> "If you have to migrate anyway, migrate to the platform whose business model depends on model choice, not away from it."</a:t>
            </a:r>
          </a:p>
          <a:p>
            <a:pPr/>
            <a:r>
              <a:rPr b="1" sz="1600"/>
              <a:t>Deal stage:</a:t>
            </a:r>
            <a:r>
              <a:rPr sz="1600"/>
              <a:t> bake-off, migration — usable now, not a future watch item.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Accelerator Supply</a:t>
            </a:r>
          </a:p>
        </p:txBody>
      </p:sp>
      <p:sp>
        <p:nvSpPr>
          <p:cNvPr id="3" name="Content Placeholder 2"/>
          <p:cNvSpPr>
            <a:spLocks noGrp="1"/>
          </p:cNvSpPr>
          <p:nvPr>
            <p:ph idx="1"/>
          </p:nvPr>
        </p:nvSpPr>
        <p:spPr/>
        <p:txBody>
          <a:bodyPr/>
          <a:lstStyle/>
          <a:p>
            <a:pPr/>
            <a:r>
              <a:rPr b="1" sz="1600"/>
              <a:t>Evidence:</a:t>
            </a:r>
            <a:r>
              <a:rPr sz="1600"/>
              <a:t> Google CFO, Q2 2026 earnings call: "our cloud revenue would have been higher if we were able to meet the demand." Cloud backlog $514B, &gt;50% converting to revenue within 24 months.</a:t>
            </a:r>
          </a:p>
          <a:p>
            <a:pPr/>
            <a:r>
              <a:rPr b="1" sz="1600"/>
              <a:t>AWS counter:</a:t>
            </a:r>
            <a:r>
              <a:rPr sz="1600"/>
              <a:t> Capacity Blocks for ML — reserve accelerator capacity ahead of time instead of competing for it during a publicly admitted shortage.</a:t>
            </a:r>
          </a:p>
          <a:p>
            <a:pPr/>
            <a:r>
              <a:rPr b="1" sz="1600"/>
              <a:t>Concession:</a:t>
            </a:r>
            <a:r>
              <a:rPr sz="1600"/>
              <a:t> a customer already committed to GCP with backlog priority may get preferential allocation over a net-new AWS evaluation running the same capacity argument in reverse. Don't overplay this against an already-embedded GCP account.</a:t>
            </a:r>
          </a:p>
          <a:p>
            <a:pPr/>
            <a:r>
              <a:rPr b="1" sz="1600"/>
              <a:t>Deal stage:</a:t>
            </a:r>
            <a:r>
              <a:rPr sz="1600"/>
              <a:t> competitive bake-off, especially training-adjacent workloads.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Pricing Transparency &amp; Structure</a:t>
            </a:r>
          </a:p>
        </p:txBody>
      </p:sp>
      <p:sp>
        <p:nvSpPr>
          <p:cNvPr id="3" name="Content Placeholder 2"/>
          <p:cNvSpPr>
            <a:spLocks noGrp="1"/>
          </p:cNvSpPr>
          <p:nvPr>
            <p:ph idx="1"/>
          </p:nvPr>
        </p:nvSpPr>
        <p:spPr/>
        <p:txBody>
          <a:bodyPr/>
          <a:lstStyle/>
          <a:p>
            <a:pPr/>
            <a:r>
              <a:rPr b="1" sz="1600"/>
              <a:t>Evidence:</a:t>
            </a:r>
            <a:r>
              <a:rPr sz="1600"/>
              <a:t> Vertex publishes per-chip-hour TPU list pricing (tpu7x $13.80, v6e $3.105) and a separate management fee on managed GPU prediction (+$1.469/hr on H100's $9.797/hr base, ~15% on top).</a:t>
            </a:r>
          </a:p>
          <a:p>
            <a:pPr/>
            <a:r>
              <a:rPr b="1" sz="1600"/>
              <a:t>AWS counter:</a:t>
            </a:r>
            <a:r>
              <a:rPr sz="1600"/>
              <a:t> ask for the fully-loaded per-hour Vertex number before comparing to SageMaker/Bedrock — the management fee is a line item customers often miss in Google quotes.</a:t>
            </a:r>
          </a:p>
          <a:p>
            <a:pPr/>
            <a:r>
              <a:rPr b="1" sz="1600"/>
              <a:t>Concession:</a:t>
            </a:r>
            <a:r>
              <a:rPr sz="1600"/>
              <a:t> Google's TPU list-price transparency is genuinely better than AWS's equivalent for Trainium today. Sellers should have a Trainium2/UltraServer $/chip-hr-equivalent answer ready rather than deflecting the comparison.</a:t>
            </a:r>
          </a:p>
          <a:p>
            <a:pPr/>
            <a:r>
              <a:rPr b="1" sz="1600"/>
              <a:t>Deal stage:</a:t>
            </a:r>
            <a:r>
              <a:rPr sz="1600"/>
              <a:t> quote scrub, TCO conversation.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Discount Structures</a:t>
            </a:r>
          </a:p>
        </p:txBody>
      </p:sp>
      <p:sp>
        <p:nvSpPr>
          <p:cNvPr id="3" name="Content Placeholder 2"/>
          <p:cNvSpPr>
            <a:spLocks noGrp="1"/>
          </p:cNvSpPr>
          <p:nvPr>
            <p:ph idx="1"/>
          </p:nvPr>
        </p:nvSpPr>
        <p:spPr/>
        <p:txBody>
          <a:bodyPr/>
          <a:lstStyle/>
          <a:p>
            <a:pPr/>
            <a:r>
              <a:rPr b="1" sz="1600"/>
              <a:t>Evidence (GCP, baseline captured 2026-07-22):</a:t>
            </a:r>
            <a:r>
              <a:rPr sz="1600"/>
              <a:t> Spot up to 91% off on-demand; CUDs up to 70% (memory-optimized) / 55% (other); spend-based flexible CUDs (Savings-Plans-analog).</a:t>
            </a:r>
          </a:p>
          <a:p>
            <a:pPr/>
            <a:r>
              <a:rPr b="1" sz="1600"/>
              <a:t>AWS position:</a:t>
            </a:r>
            <a:r>
              <a:rPr sz="1600"/>
              <a:t> Spot ≤~90%, Savings Plans structurally equivalent to flexible CUDs.</a:t>
            </a:r>
          </a:p>
          <a:p>
            <a:pPr/>
            <a:r>
              <a:rPr b="1" sz="1600"/>
              <a:t>Concession:</a:t>
            </a:r>
            <a:r>
              <a:rPr sz="1600"/>
              <a:t> discount-structure parity is real — don't contest the headline percentages. Win on Graviton price-performance and Spot capacity *depth* (availability at scale, not just discount ceiling), and steer the conversation to workload-level TCO instead of discount-header comparisons.</a:t>
            </a:r>
          </a:p>
          <a:p>
            <a:pPr/>
            <a:r>
              <a:rPr b="1" sz="1600"/>
              <a:t>Deal stage:</a:t>
            </a:r>
            <a:r>
              <a:rPr sz="1600"/>
              <a:t> renewal, cost-optimization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Deep-Dive — Agent Platform</a:t>
            </a:r>
          </a:p>
        </p:txBody>
      </p:sp>
      <p:sp>
        <p:nvSpPr>
          <p:cNvPr id="3" name="Content Placeholder 2"/>
          <p:cNvSpPr>
            <a:spLocks noGrp="1"/>
          </p:cNvSpPr>
          <p:nvPr>
            <p:ph idx="1"/>
          </p:nvPr>
        </p:nvSpPr>
        <p:spPr/>
        <p:txBody>
          <a:bodyPr/>
          <a:lstStyle/>
          <a:p>
            <a:pPr/>
            <a:r>
              <a:rPr b="1" sz="1600"/>
              <a:t>Evidence:</a:t>
            </a:r>
            <a:r>
              <a:rPr sz="1600"/>
              <a:t> Gemini Enterprise seat pricing published — $21/seat/mo (Business, 1–300 seats) and $30/seat/mo (Standard/Plus, unlimited, VPC-SC, CMEK, FedRAMP High/HIPAA, Code Assist Standard, ADK/third-party agent bring-in). ~90% of Fortune 100 cited as Gemini Enterprise adopters (adoption claim, not a revenue/depth metric).</a:t>
            </a:r>
          </a:p>
          <a:p>
            <a:pPr/>
            <a:r>
              <a:rPr b="1" sz="1600"/>
              <a:t>AWS counter:</a:t>
            </a:r>
            <a:r>
              <a:rPr sz="1600"/>
              <a:t> Amazon Q Business / Bedrock AgentCore — consumption-based rather than per-seat, Strands + MCP openness vs. Google's ADK-first model.</a:t>
            </a:r>
          </a:p>
          <a:p>
            <a:pPr/>
            <a:r>
              <a:rPr b="1" sz="1600"/>
              <a:t>Concession:</a:t>
            </a:r>
            <a:r>
              <a:rPr sz="1600"/>
              <a:t> Google has a simpler procurement story — a seat price and a 30-day trial. Match it with a scoped pilot offer rather than dismissing the simplicity.</a:t>
            </a:r>
          </a:p>
          <a:p>
            <a:pPr/>
            <a:r>
              <a:rPr b="1" sz="1600"/>
              <a:t>Deal stage:</a:t>
            </a:r>
            <a:r>
              <a:rPr sz="1600"/>
              <a:t> discovery — expect the $21/$30 figures to surface immediately in agent-platform conversations this quarter.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&amp; TCO — Apples-to-Apples Snapshot</a:t>
            </a:r>
          </a:p>
        </p:txBody>
      </p:sp>
      <p:sp>
        <p:nvSpPr>
          <p:cNvPr id="3" name="Content Placeholder 2"/>
          <p:cNvSpPr>
            <a:spLocks noGrp="1"/>
          </p:cNvSpPr>
          <p:nvPr>
            <p:ph idx="1"/>
          </p:nvPr>
        </p:nvSpPr>
        <p:spPr/>
        <p:txBody>
          <a:bodyPr/>
          <a:lstStyle/>
          <a:p>
            <a:r>
              <a:rPr sz="1600"/>
              <a:t>*No week-over-week deltas yet on these figures — 2026-07-22 was this pipeline's first capture. Treat as a baseline snapshot, refresh before every quote.*</a:t>
            </a:r>
          </a:p>
        </p:txBody>
      </p:sp>
      <p:graphicFrame>
        <p:nvGraphicFramePr>
          <p:cNvPr id="4" name="Table 3"/>
          <p:cNvGraphicFramePr>
            <a:graphicFrameLocks noGrp="1"/>
          </p:cNvGraphicFramePr>
          <p:nvPr/>
        </p:nvGraphicFramePr>
        <p:xfrm>
          <a:off x="457200" y="1371600"/>
          <a:ext cx="8229600" cy="25603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r>
                        <a:rPr sz="1200" b="1"/>
                        <a:t>Item</a:t>
                      </a:r>
                    </a:p>
                  </a:txBody>
                  <a:tcPr/>
                </a:tc>
                <a:tc>
                  <a:txBody>
                    <a:bodyPr/>
                    <a:lstStyle/>
                    <a:p>
                      <a:r>
                        <a:rPr sz="1200" b="1"/>
                        <a:t>Google Cloud (captured)</a:t>
                      </a:r>
                    </a:p>
                  </a:txBody>
                  <a:tcPr/>
                </a:tc>
                <a:tc>
                  <a:txBody>
                    <a:bodyPr/>
                    <a:lstStyle/>
                    <a:p>
                      <a:r>
                        <a:rPr sz="1200" b="1"/>
                        <a:t>AWS equivalent</a:t>
                      </a:r>
                    </a:p>
                  </a:txBody>
                  <a:tcPr/>
                </a:tc>
              </a:tr>
              <a:tr h="365760">
                <a:tc>
                  <a:txBody>
                    <a:bodyPr/>
                    <a:lstStyle/>
                    <a:p>
                      <a:r>
                        <a:rPr sz="1200"/>
                        <a:t>H100 80GB, on-demand</a:t>
                      </a:r>
                    </a:p>
                  </a:txBody>
                  <a:tcPr/>
                </a:tc>
                <a:tc>
                  <a:txBody>
                    <a:bodyPr/>
                    <a:lstStyle/>
                    <a:p>
                      <a:r>
                        <a:rPr sz="1200"/>
                        <a:t>$9.797/hr + $1.469/hr mgmt fee = $11.266/hr fully loaded</a:t>
                      </a:r>
                    </a:p>
                  </a:txBody>
                  <a:tcPr/>
                </a:tc>
                <a:tc>
                  <a:txBody>
                    <a:bodyPr/>
                    <a:lstStyle/>
                    <a:p>
                      <a:r>
                        <a:rPr sz="1200"/>
                        <a:t>Compare fully-loaded P5 rate — pull current list before quoting</a:t>
                      </a:r>
                    </a:p>
                  </a:txBody>
                  <a:tcPr/>
                </a:tc>
              </a:tr>
              <a:tr h="365760">
                <a:tc>
                  <a:txBody>
                    <a:bodyPr/>
                    <a:lstStyle/>
                    <a:p>
                      <a:r>
                        <a:rPr sz="1200"/>
                        <a:t>TPU v6e (1-chip)</a:t>
                      </a:r>
                    </a:p>
                  </a:txBody>
                  <a:tcPr/>
                </a:tc>
                <a:tc>
                  <a:txBody>
                    <a:bodyPr/>
                    <a:lstStyle/>
                    <a:p>
                      <a:r>
                        <a:rPr sz="1200"/>
                        <a:t>$3.105/hr</a:t>
                      </a:r>
                    </a:p>
                  </a:txBody>
                  <a:tcPr/>
                </a:tc>
                <a:tc>
                  <a:txBody>
                    <a:bodyPr/>
                    <a:lstStyle/>
                    <a:p>
                      <a:r>
                        <a:rPr sz="1200"/>
                        <a:t>Compare current Trainium2 $/chip-hr</a:t>
                      </a:r>
                    </a:p>
                  </a:txBody>
                  <a:tcPr/>
                </a:tc>
              </a:tr>
              <a:tr h="365760">
                <a:tc>
                  <a:txBody>
                    <a:bodyPr/>
                    <a:lstStyle/>
                    <a:p>
                      <a:r>
                        <a:rPr sz="1200"/>
                        <a:t>tpu7x / Ironwood-class (1-chip)</a:t>
                      </a:r>
                    </a:p>
                  </a:txBody>
                  <a:tcPr/>
                </a:tc>
                <a:tc>
                  <a:txBody>
                    <a:bodyPr/>
                    <a:lstStyle/>
                    <a:p>
                      <a:r>
                        <a:rPr sz="1200"/>
                        <a:t>$13.80/hr (list; supply unconfirmed)</a:t>
                      </a:r>
                    </a:p>
                  </a:txBody>
                  <a:tcPr/>
                </a:tc>
                <a:tc>
                  <a:txBody>
                    <a:bodyPr/>
                    <a:lstStyle/>
                    <a:p>
                      <a:r>
                        <a:rPr sz="1200"/>
                        <a:t>Compare current Trainium3 $/chip-hr</a:t>
                      </a:r>
                    </a:p>
                  </a:txBody>
                  <a:tcPr/>
                </a:tc>
              </a:tr>
              <a:tr h="365760">
                <a:tc>
                  <a:txBody>
                    <a:bodyPr/>
                    <a:lstStyle/>
                    <a:p>
                      <a:r>
                        <a:rPr sz="1200"/>
                        <a:t>Spot discount ceiling</a:t>
                      </a:r>
                    </a:p>
                  </a:txBody>
                  <a:tcPr/>
                </a:tc>
                <a:tc>
                  <a:txBody>
                    <a:bodyPr/>
                    <a:lstStyle/>
                    <a:p>
                      <a:r>
                        <a:rPr sz="1200"/>
                        <a:t>up to 91%</a:t>
                      </a:r>
                    </a:p>
                  </a:txBody>
                  <a:tcPr/>
                </a:tc>
                <a:tc>
                  <a:txBody>
                    <a:bodyPr/>
                    <a:lstStyle/>
                    <a:p>
                      <a:r>
                        <a:rPr sz="1200"/>
                        <a:t>~90%, deeper capacity depth</a:t>
                      </a:r>
                    </a:p>
                  </a:txBody>
                  <a:tcPr/>
                </a:tc>
              </a:tr>
              <a:tr h="365760">
                <a:tc>
                  <a:txBody>
                    <a:bodyPr/>
                    <a:lstStyle/>
                    <a:p>
                      <a:r>
                        <a:rPr sz="1200"/>
                        <a:t>Committed-use ceiling</a:t>
                      </a:r>
                    </a:p>
                  </a:txBody>
                  <a:tcPr/>
                </a:tc>
                <a:tc>
                  <a:txBody>
                    <a:bodyPr/>
                    <a:lstStyle/>
                    <a:p>
                      <a:r>
                        <a:rPr sz="1200"/>
                        <a:t>up to 70% (memory-optimized)</a:t>
                      </a:r>
                    </a:p>
                  </a:txBody>
                  <a:tcPr/>
                </a:tc>
                <a:tc>
                  <a:txBody>
                    <a:bodyPr/>
                    <a:lstStyle/>
                    <a:p>
                      <a:r>
                        <a:rPr sz="1200"/>
                        <a:t>Savings Plans — structurally equivalent</a:t>
                      </a:r>
                    </a:p>
                  </a:txBody>
                  <a:tcPr/>
                </a:tc>
              </a:tr>
              <a:tr h="365760">
                <a:tc>
                  <a:txBody>
                    <a:bodyPr/>
                    <a:lstStyle/>
                    <a:p>
                      <a:r>
                        <a:rPr sz="1200"/>
                        <a:t>Agent platform</a:t>
                      </a:r>
                    </a:p>
                  </a:txBody>
                  <a:tcPr/>
                </a:tc>
                <a:tc>
                  <a:txBody>
                    <a:bodyPr/>
                    <a:lstStyle/>
                    <a:p>
                      <a:r>
                        <a:rPr sz="1200"/>
                        <a:t>$21–$30/seat/mo</a:t>
                      </a:r>
                    </a:p>
                  </a:txBody>
                  <a:tcPr/>
                </a:tc>
                <a:tc>
                  <a:txBody>
                    <a:bodyPr/>
                    <a:lstStyle/>
                    <a:p>
                      <a:r>
                        <a:rPr sz="1200"/>
                        <a:t>Consumption-based (Bedrock AgentCore)</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&amp; TCO — The Hidden Line Items</a:t>
            </a:r>
          </a:p>
        </p:txBody>
      </p:sp>
      <p:sp>
        <p:nvSpPr>
          <p:cNvPr id="3" name="Content Placeholder 2"/>
          <p:cNvSpPr>
            <a:spLocks noGrp="1"/>
          </p:cNvSpPr>
          <p:nvPr>
            <p:ph idx="1"/>
          </p:nvPr>
        </p:nvSpPr>
        <p:spPr/>
        <p:txBody>
          <a:bodyPr/>
          <a:lstStyle/>
          <a:p>
            <a:pPr/>
            <a:r>
              <a:rPr b="1" sz="1600"/>
              <a:t>Vertex management fee:</a:t>
            </a:r>
            <a:r>
              <a:rPr sz="1600"/>
              <a:t> +$1.469/hr on H100 managed prediction — ask for it explicitly, it's a separate SKU from the base accelerator rate.</a:t>
            </a:r>
          </a:p>
          <a:p>
            <a:pPr/>
            <a:r>
              <a:rPr b="1" sz="1600"/>
              <a:t>Forced migrations are TCO, not just engineering cost:</a:t>
            </a:r>
            <a:r>
              <a:rPr sz="1600"/>
              <a:t> the Oct 2026 MaaS retirement, the CSEK turndown, and the SecOps API turndown are each a mandatory re-platforming project with real engineering hours attached — quantify that cost in any GCP-retention TCO model a customer builds.</a:t>
            </a:r>
          </a:p>
          <a:p>
            <a:pPr/>
            <a:r>
              <a:rPr b="1" sz="1600"/>
              <a:t>Recommendation:</a:t>
            </a:r>
            <a:r>
              <a:rPr sz="1600"/>
              <a:t> when a customer presents a GCP TCO model, ask whether it accounts for the three forced-migration windows above. Most won't — that's the gap to point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&amp; TCO — Migration-Friction Date Table (for QBR use)</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371600"/>
          <a:ext cx="8229600" cy="25603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r>
                        <a:rPr sz="1200" b="1"/>
                        <a:t>GCP change</a:t>
                      </a:r>
                    </a:p>
                  </a:txBody>
                  <a:tcPr/>
                </a:tc>
                <a:tc>
                  <a:txBody>
                    <a:bodyPr/>
                    <a:lstStyle/>
                    <a:p>
                      <a:r>
                        <a:rPr sz="1200" b="1"/>
                        <a:t>Customers affected</a:t>
                      </a:r>
                    </a:p>
                  </a:txBody>
                  <a:tcPr/>
                </a:tc>
                <a:tc>
                  <a:txBody>
                    <a:bodyPr/>
                    <a:lstStyle/>
                    <a:p>
                      <a:r>
                        <a:rPr sz="1200" b="1"/>
                        <a:t>Hard date</a:t>
                      </a:r>
                    </a:p>
                  </a:txBody>
                  <a:tcPr/>
                </a:tc>
              </a:tr>
              <a:tr h="365760">
                <a:tc>
                  <a:txBody>
                    <a:bodyPr/>
                    <a:lstStyle/>
                    <a:p>
                      <a:r>
                        <a:rPr sz="1200"/>
                        <a:t>Gemini 3.5 Flash removed (Global region)</a:t>
                      </a:r>
                    </a:p>
                  </a:txBody>
                  <a:tcPr/>
                </a:tc>
                <a:tc>
                  <a:txBody>
                    <a:bodyPr/>
                    <a:lstStyle/>
                    <a:p>
                      <a:r>
                        <a:rPr sz="1200"/>
                        <a:t>Gemini Enterprise app users</a:t>
                      </a:r>
                    </a:p>
                  </a:txBody>
                  <a:tcPr/>
                </a:tc>
                <a:tc>
                  <a:txBody>
                    <a:bodyPr/>
                    <a:lstStyle/>
                    <a:p>
                      <a:r>
                        <a:rPr sz="1200"/>
                        <a:t>Aug 4, 2026</a:t>
                      </a:r>
                    </a:p>
                  </a:txBody>
                  <a:tcPr/>
                </a:tc>
              </a:tr>
              <a:tr h="365760">
                <a:tc>
                  <a:txBody>
                    <a:bodyPr/>
                    <a:lstStyle/>
                    <a:p>
                      <a:r>
                        <a:rPr sz="1200"/>
                        <a:t>16 open-model MaaS endpoints retired</a:t>
                      </a:r>
                    </a:p>
                  </a:txBody>
                  <a:tcPr/>
                </a:tc>
                <a:tc>
                  <a:txBody>
                    <a:bodyPr/>
                    <a:lstStyle/>
                    <a:p>
                      <a:r>
                        <a:rPr sz="1200"/>
                        <a:t>Vertex open-model inference</a:t>
                      </a:r>
                    </a:p>
                  </a:txBody>
                  <a:tcPr/>
                </a:tc>
                <a:tc>
                  <a:txBody>
                    <a:bodyPr/>
                    <a:lstStyle/>
                    <a:p>
                      <a:r>
                        <a:rPr sz="1200"/>
                        <a:t>Oct 21, 2026</a:t>
                      </a:r>
                    </a:p>
                  </a:txBody>
                  <a:tcPr/>
                </a:tc>
              </a:tr>
              <a:tr h="365760">
                <a:tc>
                  <a:txBody>
                    <a:bodyPr/>
                    <a:lstStyle/>
                    <a:p>
                      <a:r>
                        <a:rPr sz="1200"/>
                        <a:t>SecOps legacy APIs blocked on new instances</a:t>
                      </a:r>
                    </a:p>
                  </a:txBody>
                  <a:tcPr/>
                </a:tc>
                <a:tc>
                  <a:txBody>
                    <a:bodyPr/>
                    <a:lstStyle/>
                    <a:p>
                      <a:r>
                        <a:rPr sz="1200"/>
                        <a:t>New SecOps provisioning</a:t>
                      </a:r>
                    </a:p>
                  </a:txBody>
                  <a:tcPr/>
                </a:tc>
                <a:tc>
                  <a:txBody>
                    <a:bodyPr/>
                    <a:lstStyle/>
                    <a:p>
                      <a:r>
                        <a:rPr sz="1200"/>
                        <a:t>Oct 26, 2026</a:t>
                      </a:r>
                    </a:p>
                  </a:txBody>
                  <a:tcPr/>
                </a:tc>
              </a:tr>
              <a:tr h="365760">
                <a:tc>
                  <a:txBody>
                    <a:bodyPr/>
                    <a:lstStyle/>
                    <a:p>
                      <a:r>
                        <a:rPr sz="1200"/>
                        <a:t>Batch cross-region resources (grandfathered)</a:t>
                      </a:r>
                    </a:p>
                  </a:txBody>
                  <a:tcPr/>
                </a:tc>
                <a:tc>
                  <a:txBody>
                    <a:bodyPr/>
                    <a:lstStyle/>
                    <a:p>
                      <a:r>
                        <a:rPr sz="1200"/>
                        <a:t>Cross-region batch/HPC</a:t>
                      </a:r>
                    </a:p>
                  </a:txBody>
                  <a:tcPr/>
                </a:tc>
                <a:tc>
                  <a:txBody>
                    <a:bodyPr/>
                    <a:lstStyle/>
                    <a:p>
                      <a:r>
                        <a:rPr sz="1200"/>
                        <a:t>Jun 30, 2027</a:t>
                      </a:r>
                    </a:p>
                  </a:txBody>
                  <a:tcPr/>
                </a:tc>
              </a:tr>
              <a:tr h="365760">
                <a:tc>
                  <a:txBody>
                    <a:bodyPr/>
                    <a:lstStyle/>
                    <a:p>
                      <a:r>
                        <a:rPr sz="1200"/>
                        <a:t>CSEK disabled</a:t>
                      </a:r>
                    </a:p>
                  </a:txBody>
                  <a:tcPr/>
                </a:tc>
                <a:tc>
                  <a:txBody>
                    <a:bodyPr/>
                    <a:lstStyle/>
                    <a:p>
                      <a:r>
                        <a:rPr sz="1200"/>
                        <a:t>Hold-your-own-key compute customers</a:t>
                      </a:r>
                    </a:p>
                  </a:txBody>
                  <a:tcPr/>
                </a:tc>
                <a:tc>
                  <a:txBody>
                    <a:bodyPr/>
                    <a:lstStyle/>
                    <a:p>
                      <a:r>
                        <a:rPr sz="1200"/>
                        <a:t>Jul 20, 2027</a:t>
                      </a:r>
                    </a:p>
                  </a:txBody>
                  <a:tcPr/>
                </a:tc>
              </a:tr>
              <a:tr h="365760">
                <a:tc>
                  <a:txBody>
                    <a:bodyPr/>
                    <a:lstStyle/>
                    <a:p>
                      <a:r>
                        <a:rPr sz="1200"/>
                        <a:t>SecOps legacy APIs fully turned down</a:t>
                      </a:r>
                    </a:p>
                  </a:txBody>
                  <a:tcPr/>
                </a:tc>
                <a:tc>
                  <a:txBody>
                    <a:bodyPr/>
                    <a:lstStyle/>
                    <a:p>
                      <a:r>
                        <a:rPr sz="1200"/>
                        <a:t>All SecOps custom integrations</a:t>
                      </a:r>
                    </a:p>
                  </a:txBody>
                  <a:tcPr/>
                </a:tc>
                <a:tc>
                  <a:txBody>
                    <a:bodyPr/>
                    <a:lstStyle/>
                    <a:p>
                      <a:r>
                        <a:rPr sz="1200"/>
                        <a:t>Jul 20, 2027</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Evidence — Data Gap (Read Before Presenting)</a:t>
            </a:r>
          </a:p>
        </p:txBody>
      </p:sp>
      <p:sp>
        <p:nvSpPr>
          <p:cNvPr id="3" name="Content Placeholder 2"/>
          <p:cNvSpPr>
            <a:spLocks noGrp="1"/>
          </p:cNvSpPr>
          <p:nvPr>
            <p:ph idx="1"/>
          </p:nvPr>
        </p:nvSpPr>
        <p:spPr/>
        <p:txBody>
          <a:bodyPr/>
          <a:lstStyle/>
          <a:p>
            <a:pPr/>
            <a:r>
              <a:rPr b="1" sz="1600"/>
              <a:t>This pipeline has no CRM/Salesforce feed and no case-study database — it monitors public GCP surfaces only</a:t>
            </a:r>
            <a:r>
              <a:rPr sz="1600"/>
              <a:t> (release notes, pricing pages, earnings filings, product docs).</a:t>
            </a:r>
          </a:p>
          <a:p>
            <a:pPr/>
            <a:r>
              <a:rPr sz="1600"/>
              <a:t>A live search this month for a named, public case study of a customer moving from Google Cloud to AWS did not surface one specific enough to cite honestly — general AWS migration case studies exist (AWS's official case-study library), but none confirmed as a GCP-to-AWS switch.</a:t>
            </a:r>
          </a:p>
          <a:p>
            <a:pPr/>
            <a:r>
              <a:rPr b="1" sz="1600"/>
              <a:t>Do not present fabricated logos, quotes, or win counts on this slide.</a:t>
            </a:r>
            <a:r>
              <a:rPr sz="1600"/>
              <a:t> Field/sales leadership: supply real named wins from CRM before this section goes in front of a customer — this deck should be updated with your actual pipeline data before an SA-to-customer conversation.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Evidence — What We Can Cite Today</a:t>
            </a:r>
          </a:p>
        </p:txBody>
      </p:sp>
      <p:sp>
        <p:nvSpPr>
          <p:cNvPr id="3" name="Content Placeholder 2"/>
          <p:cNvSpPr>
            <a:spLocks noGrp="1"/>
          </p:cNvSpPr>
          <p:nvPr>
            <p:ph idx="1"/>
          </p:nvPr>
        </p:nvSpPr>
        <p:spPr/>
        <p:txBody>
          <a:bodyPr/>
          <a:lstStyle/>
          <a:p>
            <a:pPr/>
            <a:r>
              <a:rPr sz="1600"/>
              <a:t>Gartner Magic Quadrant for Strategic Cloud Platform Services: AWS Leader, 15 consecutive years, highest Ability to Execute (analyst-level evidence, not a customer testimonial — usable as third-party validation while the case-study gap above gets filled).</a:t>
            </a:r>
          </a:p>
          <a:p>
            <a:pPr/>
            <a:r>
              <a:rPr sz="1600"/>
              <a:t>AWS's public case-study library (aws.amazon.com/solutions/case-studies) has volume and breadth across industries — direct SAs there for sourcing a same-industry reference while a GCP-specific switch story isn't yet available.</a:t>
            </a:r>
          </a:p>
          <a:p>
            <a:pPr/>
            <a:r>
              <a:rPr b="1" sz="1600"/>
              <a:t>Action for next month's deck:</a:t>
            </a:r>
            <a:r>
              <a:rPr sz="1600"/>
              <a:t> field teams should submit any GCP-to-AWS win (even anonymized/logo-blind) so this section has real content instead of a flagged gap.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"Google's AI momentum is real, why fight it?"</a:t>
            </a:r>
          </a:p>
        </p:txBody>
      </p:sp>
      <p:sp>
        <p:nvSpPr>
          <p:cNvPr id="3" name="Content Placeholder 2"/>
          <p:cNvSpPr>
            <a:spLocks noGrp="1"/>
          </p:cNvSpPr>
          <p:nvPr>
            <p:ph idx="1"/>
          </p:nvPr>
        </p:nvSpPr>
        <p:spPr/>
        <p:txBody>
          <a:bodyPr/>
          <a:lstStyle/>
          <a:p>
            <a:pPr/>
            <a:r>
              <a:rPr b="1" sz="1600"/>
              <a:t>Objection:</a:t>
            </a:r>
            <a:r>
              <a:rPr sz="1600"/>
              <a:t> "Cloud revenue is up 82%, backlog is $514B — Google is clearly winning on AI."</a:t>
            </a:r>
          </a:p>
          <a:p>
            <a:pPr/>
            <a:r>
              <a:rPr b="1" sz="1600"/>
              <a:t>Response:</a:t>
            </a:r>
            <a:r>
              <a:rPr sz="1600"/>
              <a:t> Agreed, and we won't pretend otherwise. But their own CFO said on the record that demand exceeded what they could supply. Momentum and capacity are two different questions — ask what your actual lead time and reserved-capacity terms look like before assuming the momentum translates to availability for your workload.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"Your TPU pricing isn't as transparent as Google's"</a:t>
            </a:r>
          </a:p>
        </p:txBody>
      </p:sp>
      <p:sp>
        <p:nvSpPr>
          <p:cNvPr id="3" name="Content Placeholder 2"/>
          <p:cNvSpPr>
            <a:spLocks noGrp="1"/>
          </p:cNvSpPr>
          <p:nvPr>
            <p:ph idx="1"/>
          </p:nvPr>
        </p:nvSpPr>
        <p:spPr/>
        <p:txBody>
          <a:bodyPr/>
          <a:lstStyle/>
          <a:p>
            <a:pPr/>
            <a:r>
              <a:rPr b="1" sz="1600"/>
              <a:t>Objection:</a:t>
            </a:r>
            <a:r>
              <a:rPr sz="1600"/>
              <a:t> "Google publishes clean per-chip-hour TPU pricing; AWS's Trainium pricing is harder to compare."</a:t>
            </a:r>
          </a:p>
          <a:p>
            <a:pPr/>
            <a:r>
              <a:rPr b="1" sz="1600"/>
              <a:t>Response:</a:t>
            </a:r>
            <a:r>
              <a:rPr sz="1600"/>
              <a:t> Fair — that's a real gap to close, and sellers should walk in with a current Trainium2/UltraServer $/chip-hr number ready rather than deflecting. Also worth surfacing: Google's headline TPU rate doesn't include the management fee that shows up on the Vertex GPU SKUs — ask whether the number they're citing is fully loaded.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"We're already committed to GCP's agent platform"</a:t>
            </a:r>
          </a:p>
        </p:txBody>
      </p:sp>
      <p:sp>
        <p:nvSpPr>
          <p:cNvPr id="3" name="Content Placeholder 2"/>
          <p:cNvSpPr>
            <a:spLocks noGrp="1"/>
          </p:cNvSpPr>
          <p:nvPr>
            <p:ph idx="1"/>
          </p:nvPr>
        </p:nvSpPr>
        <p:spPr/>
        <p:txBody>
          <a:bodyPr/>
          <a:lstStyle/>
          <a:p>
            <a:pPr/>
            <a:r>
              <a:rPr b="1" sz="1600"/>
              <a:t>Objection:</a:t>
            </a:r>
            <a:r>
              <a:rPr sz="1600"/>
              <a:t> "We've already scoped Gemini Enterprise at $21–$30/seat, it's simple to procure."</a:t>
            </a:r>
          </a:p>
          <a:p>
            <a:pPr/>
            <a:r>
              <a:rPr b="1" sz="1600"/>
              <a:t>Response:</a:t>
            </a:r>
            <a:r>
              <a:rPr sz="1600"/>
              <a:t> The simplicity is real — match it with a scoped AgentCore pilot rather than arguing against per-seat pricing on principle. Where consumption-based pricing wins is variable/spiky agent usage; ask what their expected utilization curve looks like before the per-seat model is assumed to be cheaper at scale.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"We already built on GCP's SIEM and encryption model"</a:t>
            </a:r>
          </a:p>
        </p:txBody>
      </p:sp>
      <p:sp>
        <p:nvSpPr>
          <p:cNvPr id="3" name="Content Placeholder 2"/>
          <p:cNvSpPr>
            <a:spLocks noGrp="1"/>
          </p:cNvSpPr>
          <p:nvPr>
            <p:ph idx="1"/>
          </p:nvPr>
        </p:nvSpPr>
        <p:spPr/>
        <p:txBody>
          <a:bodyPr/>
          <a:lstStyle/>
          <a:p>
            <a:pPr/>
            <a:r>
              <a:rPr b="1" sz="1600"/>
              <a:t>Objection:</a:t>
            </a:r>
            <a:r>
              <a:rPr sz="1600"/>
              <a:t> "We picked GCP specifically for hold-your-own-key control and Backstory integrations — switching is disruptive."</a:t>
            </a:r>
          </a:p>
          <a:p>
            <a:pPr/>
            <a:r>
              <a:rPr b="1" sz="1600"/>
              <a:t>Response:</a:t>
            </a:r>
            <a:r>
              <a:rPr sz="1600"/>
              <a:t> Both of those have hard turndown dates now (CSEK: Jul 2027, Backstory APIs: Jul 2027) — the disruption is happening regardless of whether AWS is in the conversation. The only question is whether the customer does one rewrite (to an open schema like OCSF via Security Lake) or two (to Chronicle now, and to whatever replaces it after the next GCP platform simplification).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Objection Handling — "This all sounds like it cuts both ways"</a:t>
            </a:r>
          </a:p>
        </p:txBody>
      </p:sp>
      <p:sp>
        <p:nvSpPr>
          <p:cNvPr id="3" name="Content Placeholder 2"/>
          <p:cNvSpPr>
            <a:spLocks noGrp="1"/>
          </p:cNvSpPr>
          <p:nvPr>
            <p:ph idx="1"/>
          </p:nvPr>
        </p:nvSpPr>
        <p:spPr/>
        <p:txBody>
          <a:bodyPr/>
          <a:lstStyle/>
          <a:p>
            <a:pPr/>
            <a:r>
              <a:rPr b="1" sz="1600"/>
              <a:t>Objection:</a:t>
            </a:r>
            <a:r>
              <a:rPr sz="1600"/>
              <a:t> "You're citing Google's own admissions, but doesn't AWS have a comparable supply-constraint story on GPUs?"</a:t>
            </a:r>
          </a:p>
          <a:p>
            <a:pPr/>
            <a:r>
              <a:rPr b="1" sz="1600"/>
              <a:t>Response:</a:t>
            </a:r>
            <a:r>
              <a:rPr sz="1600"/>
              <a:t> Yes, and pretending otherwise would be a battlecard nobody trusts. Capacity Blocks exist specifically because reservable capacity is the honest answer to a supply-constrained accelerator market, on both platforms. The differentiator isn't "AWS has infinite supply" — it's giving customers a reservation mechanism rather than a first-come queue.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 to Action</a:t>
            </a:r>
          </a:p>
        </p:txBody>
      </p:sp>
      <p:sp>
        <p:nvSpPr>
          <p:cNvPr id="3" name="Content Placeholder 2"/>
          <p:cNvSpPr>
            <a:spLocks noGrp="1"/>
          </p:cNvSpPr>
          <p:nvPr>
            <p:ph idx="1"/>
          </p:nvPr>
        </p:nvSpPr>
        <p:spPr/>
        <p:txBody>
          <a:bodyPr/>
          <a:lstStyle/>
          <a:p>
            <a:pPr/>
            <a:r>
              <a:rPr b="1" sz="1600"/>
              <a:t>Next steps:</a:t>
            </a:r>
            <a:r>
              <a:rPr sz="1600"/>
              <a:t> pull current Bedrock/Trainium/P5 list pricing before any Vertex/TPU quote comparison — don't cite this deck's captured numbers as current without a refresh.</a:t>
            </a:r>
          </a:p>
          <a:p>
            <a:pPr/>
            <a:r>
              <a:rPr b="1" sz="1600"/>
              <a:t>Resources:</a:t>
            </a:r>
            <a:r>
              <a:rPr sz="1600"/>
              <a:t> `sources/gcp.yaml` battlecard map, weekly Intelligence Brief (`artifacts/weekly-intelligence-brief-*.md`), this deck's markdown source (`decks/compete-deck-gcp-vs-aws-*.md`) for editing before a specific customer conversation.</a:t>
            </a:r>
          </a:p>
          <a:p>
            <a:pPr/>
            <a:r>
              <a:rPr b="1" sz="1600"/>
              <a:t>Deal support:</a:t>
            </a:r>
            <a:r>
              <a:rPr sz="1600"/>
              <a:t> for the Migration-Friction Date table or Customer Evidence gap, loop in field leadership before presenting externally — this deck is a competitive-intel starting point, not a final customer-facing asset without a named-logo pass.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